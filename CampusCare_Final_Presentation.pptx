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93C5FD"/>
                </a:solidFill>
              </a:defRPr>
            </a:pPr>
            <a:r>
              <a:t>FOURTH YEAR CSE CAPSTONE PROJECT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CampusCare — AI-Based Campus Complaint Management System</a:t>
            </a:r>
          </a:p>
          <a:p>
            <a:pPr>
              <a:spcAft>
                <a:spcPts val="3600"/>
              </a:spcAft>
              <a:defRPr sz="1800">
                <a:solidFill>
                  <a:srgbClr val="E2E8F0"/>
                </a:solidFill>
              </a:defRPr>
            </a:pPr>
            <a:r>
              <a:t>An intelligent, auditable grievance resolution ecosystem featuring real-time NLP department classification, heuristic safety triage, and vector similarity duplicate suppression.</a:t>
            </a:r>
          </a:p>
          <a:p>
            <a:pPr>
              <a:defRPr sz="1300" b="1">
                <a:solidFill>
                  <a:srgbClr val="60A5FA"/>
                </a:solidFill>
              </a:defRPr>
            </a:pPr>
            <a:r>
              <a:t>Tech Stack: React 19 • TypeScript • Tailwind CSS • FastAPI • scikit-learn •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Problem Statement &amp; Operational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A8A"/>
                </a:solidFill>
              </a:defRPr>
            </a:pPr>
            <a:r>
              <a:t>Manual Triage Bottlenecks</a:t>
            </a:r>
          </a:p>
          <a:p>
            <a:pPr>
              <a:spcAft>
                <a:spcPts val="1600"/>
              </a:spcAft>
              <a:defRPr sz="1200" i="1">
                <a:solidFill>
                  <a:srgbClr val="64748B"/>
                </a:solidFill>
              </a:defRPr>
            </a:pPr>
            <a:r>
              <a:t>Grievances are logged via manual registers, paper forms, or generic emails.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Complaints sit in incorrect department inboxes for days.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High misclassification rate during manual assignment.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Technicians lack timely notifications to initiate repairs.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A8A"/>
                </a:solidFill>
              </a:defRPr>
            </a:pPr>
            <a:r>
              <a:t>Duplicate Ticket Flooding</a:t>
            </a:r>
          </a:p>
          <a:p>
            <a:pPr>
              <a:spcAft>
                <a:spcPts val="1600"/>
              </a:spcAft>
              <a:defRPr sz="1200" i="1">
                <a:solidFill>
                  <a:srgbClr val="64748B"/>
                </a:solidFill>
              </a:defRPr>
            </a:pPr>
            <a:r>
              <a:t>Localized outages trigger an influx of redundant, uncoordinated submissions.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A single lab Wi-Fi outage triggers dozens of duplicate tickets.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Staff spend hours filtering repeat reports instead of fixing root causes.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Distorts university maintenance analytics and backlog figures.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A8A"/>
                </a:solidFill>
              </a:defRPr>
            </a:pPr>
            <a:r>
              <a:t>Zero Auditability &amp; Feedback</a:t>
            </a:r>
          </a:p>
          <a:p>
            <a:pPr>
              <a:spcAft>
                <a:spcPts val="1600"/>
              </a:spcAft>
              <a:defRPr sz="1200" i="1">
                <a:solidFill>
                  <a:srgbClr val="64748B"/>
                </a:solidFill>
              </a:defRPr>
            </a:pPr>
            <a:r>
              <a:t>Students and campus leadership operate with zero transparent visibility.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Students have no progress timeline or assigned technician info.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No structured way to dispute superficial or incomplete closures.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Administration lacks SLA metrics, resolution velocity, and KPI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Proposed Solution: The CampusCare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A8A"/>
                </a:solidFill>
              </a:defRPr>
            </a:pPr>
            <a:r>
              <a:t>Core Design Philosophy</a:t>
            </a:r>
          </a:p>
          <a:p>
            <a:pPr>
              <a:defRPr sz="1400" b="1">
                <a:solidFill>
                  <a:srgbClr val="3B82F6"/>
                </a:solidFill>
              </a:defRPr>
            </a:pPr>
            <a:r>
              <a:t>✔ Automated Intelligence First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Employ machine learning to assist human operators instantly at the point of submission, eliminating triage queues.</a:t>
            </a:r>
          </a:p>
          <a:p>
            <a:pPr>
              <a:defRPr sz="1400" b="1">
                <a:solidFill>
                  <a:srgbClr val="3B82F6"/>
                </a:solidFill>
              </a:defRPr>
            </a:pPr>
            <a:r>
              <a:t>✔ Strict Deterministic Lifecycle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Enforce an auditable state machine with immutable logs—preventing undocumented closures or unauthorized status skips.</a:t>
            </a:r>
          </a:p>
          <a:p>
            <a:pPr>
              <a:defRPr sz="1400" b="1">
                <a:solidFill>
                  <a:srgbClr val="3B82F6"/>
                </a:solidFill>
              </a:defRPr>
            </a:pPr>
            <a:r>
              <a:t>✔ Human-in-the-Loop Governance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Retain administrative oversight with automated queues for borderline or low-confidence ML classifications.</a:t>
            </a:r>
          </a:p>
          <a:p>
            <a:pPr>
              <a:defRPr sz="1400" b="1">
                <a:solidFill>
                  <a:srgbClr val="3B82F6"/>
                </a:solidFill>
              </a:defRPr>
            </a:pPr>
            <a:r>
              <a:t>✔ Accessible Modern UX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Responsive university design system built to WCAG 2.1 standards with 1-click evaluator test personas.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3A8A"/>
                </a:solidFill>
              </a:defRPr>
            </a:pPr>
            <a:r>
              <a:t>1. Intelligent Automated Triage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Classify unstructured complaint text into 7 university departments using TF-IDF and Logistic Regression with &gt;94% F1-score.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54680"/>
            <a:ext cx="52120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154680"/>
            <a:ext cx="109728" cy="1325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3375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3A8A"/>
                </a:solidFill>
              </a:defRPr>
            </a:pPr>
            <a:r>
              <a:t>2. Real-Time Duplicate Prevention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Compute vector cosine similarity over existing open complaints to warn students before creating duplicate tickets.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63440"/>
            <a:ext cx="52120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663440"/>
            <a:ext cx="109728" cy="1325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8463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3A8A"/>
                </a:solidFill>
              </a:defRPr>
            </a:pPr>
            <a:r>
              <a:t>3. End-to-End Operational Transparency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Provide visual audit timelines, 5-star student satisfaction ratings, 7-day reopening grace periods, and executive CSV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Three-Tier Decoupled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E3A8A"/>
                </a:solidFill>
              </a:defRPr>
            </a:pPr>
            <a:r>
              <a:t>Presentation Layer</a:t>
            </a:r>
          </a:p>
          <a:p>
            <a:pPr>
              <a:spcAft>
                <a:spcPts val="1600"/>
              </a:spcAft>
              <a:defRPr sz="1200">
                <a:solidFill>
                  <a:srgbClr val="64748B"/>
                </a:solidFill>
              </a:defRPr>
            </a:pPr>
            <a:r>
              <a:t>Client Web Application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React 19 &amp; TypeScript: Type-safe, component-driven UI architecture.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Tailwind CSS v3.4: Atomic design system tokens (Deep Navy #1E40AF &amp; Service Blue #3B82F6).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Lucide React &amp; Recharts: Visual analytics and iconography.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WCAG 2.1 Compliant: High contrast typography (Atkinson Hyperlegible).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E3A8A"/>
                </a:solidFill>
              </a:defRPr>
            </a:pPr>
            <a:r>
              <a:t>Application &amp; Intelligence</a:t>
            </a:r>
          </a:p>
          <a:p>
            <a:pPr>
              <a:spcAft>
                <a:spcPts val="1600"/>
              </a:spcAft>
              <a:defRPr sz="1200">
                <a:solidFill>
                  <a:srgbClr val="64748B"/>
                </a:solidFill>
              </a:defRPr>
            </a:pPr>
            <a:r>
              <a:t>FastAPI Core Services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FastAPI Python: Async RESTful microservice with sub-5ms latency.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ML Classifier: TF-IDF (1,2-grams) + Multinomial Logistic Regression.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Safety Priority Engine: Deterministic keyword heuristics.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Duplicate Engine: Vector cosine similarity thresholding.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Security: Stateless HMAC-SHA256 JWT &amp; bcrypt password hashing.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E3A8A"/>
                </a:solidFill>
              </a:defRPr>
            </a:pPr>
            <a:r>
              <a:t>Data Persistence Layer</a:t>
            </a:r>
          </a:p>
          <a:p>
            <a:pPr>
              <a:spcAft>
                <a:spcPts val="1600"/>
              </a:spcAft>
              <a:defRPr sz="1200">
                <a:solidFill>
                  <a:srgbClr val="64748B"/>
                </a:solidFill>
              </a:defRPr>
            </a:pPr>
            <a:r>
              <a:t>Relational Storage &amp; Schema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SQLAlchemy ORM: Type-checked database querying and relationships.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Alembic Migrations: Version-controlled database schema evolution.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PostgreSQL 16: Robust, ACID-compliant production database in Docker.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SQLite Fallback: Zero-config local development runtime without external setup.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Finite State Machine &amp; Workflow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1. Submitted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Complaint filed by student. Automated ML category &amp; priority assigned.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2. Assigned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Staff claims ticket or Admin assigns to department technician.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3. In Progress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Staff initiates inspection/work. Internal notes recorded.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40"/>
            <a:ext cx="332841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77640"/>
            <a:ext cx="3328416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28712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4. Resolved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Staff marks work complete with mandatory resolution documentation.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3977640"/>
            <a:ext cx="332841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25696" y="3977640"/>
            <a:ext cx="3328416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4160520"/>
            <a:ext cx="28712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5. Closed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Student verifies fix, submits 1-5 star rating &amp; feedback.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3977640"/>
            <a:ext cx="332841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3977640"/>
            <a:ext cx="3328416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4160520"/>
            <a:ext cx="28712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6. Reopened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Student rejects resolution within 7 days. Returns to active queue.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Applied Machine Learning Classification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Natural Language Processing Methodology</a:t>
            </a:r>
          </a:p>
          <a:p>
            <a:pPr>
              <a:defRPr sz="1300" b="1">
                <a:solidFill>
                  <a:srgbClr val="3B82F6"/>
                </a:solidFill>
              </a:defRPr>
            </a:pPr>
            <a:r>
              <a:t>• Text Normalization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   Case folding, alphanumeric filtering, and domain-specific campus stopword cleaning.</a:t>
            </a:r>
          </a:p>
          <a:p>
            <a:pPr>
              <a:defRPr sz="1300" b="1">
                <a:solidFill>
                  <a:srgbClr val="3B82F6"/>
                </a:solidFill>
              </a:defRPr>
            </a:pPr>
            <a:r>
              <a:t>• Sublinear TF-IDF Vectorization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   Extracts unigrams and bigrams (1,2) with logarithmic term-frequency scaling to prevent lengthy descriptions from skewing short titles.</a:t>
            </a:r>
          </a:p>
          <a:p>
            <a:pPr>
              <a:defRPr sz="1300" b="1">
                <a:solidFill>
                  <a:srgbClr val="3B82F6"/>
                </a:solidFill>
              </a:defRPr>
            </a:pPr>
            <a:r>
              <a:t>• Multinomial Logistic Regression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   Trains with L2 regularization (C=1.0) outputting calibrated posterior class probabilities across 7 departments.</a:t>
            </a:r>
          </a:p>
          <a:p>
            <a:pPr>
              <a:defRPr sz="1300" b="1">
                <a:solidFill>
                  <a:srgbClr val="3B82F6"/>
                </a:solidFill>
              </a:defRPr>
            </a:pPr>
            <a:r>
              <a:t>• Confidence Calibration &amp; Thresholding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   Returns top predicted category with confidence score P(y=k|x). Tickets with confidence &lt; 60% are flagged for Human-in-the-Loop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7 Institutional Target Categories</a:t>
            </a:r>
          </a:p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▸ Hostel: </a:t>
            </a:r>
            <a:r>
              <a:rPr b="0">
                <a:solidFill>
                  <a:srgbClr val="0F172A"/>
                </a:solidFill>
              </a:rPr>
              <a:t>Plumbing, hot water geysers, cleanliness, furniture, corridor noise.</a:t>
            </a:r>
          </a:p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▸ Mess / Canteen: </a:t>
            </a:r>
            <a:r>
              <a:rPr b="0">
                <a:solidFill>
                  <a:srgbClr val="0F172A"/>
                </a:solidFill>
              </a:rPr>
              <a:t>Food quality, dining hygiene, cutlery, menu pricing.</a:t>
            </a:r>
          </a:p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▸ IT &amp; Network: </a:t>
            </a:r>
            <a:r>
              <a:rPr b="0">
                <a:solidFill>
                  <a:srgbClr val="0F172A"/>
                </a:solidFill>
              </a:rPr>
              <a:t>Wi-Fi coverage, portal login, lab switchboards, server latency.</a:t>
            </a:r>
          </a:p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▸ Electrical: </a:t>
            </a:r>
            <a:r>
              <a:rPr b="0">
                <a:solidFill>
                  <a:srgbClr val="0F172A"/>
                </a:solidFill>
              </a:rPr>
              <a:t>Switchboard sparks, power cuts, tube lights, elevator stoppage.</a:t>
            </a:r>
          </a:p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▸ Academic: </a:t>
            </a:r>
            <a:r>
              <a:rPr b="0">
                <a:solidFill>
                  <a:srgbClr val="0F172A"/>
                </a:solidFill>
              </a:rPr>
              <a:t>Classroom projectors, microphones, syllabus schedules.</a:t>
            </a:r>
          </a:p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▸ Infrastructure: </a:t>
            </a:r>
            <a:r>
              <a:rPr b="0">
                <a:solidFill>
                  <a:srgbClr val="0F172A"/>
                </a:solidFill>
              </a:rPr>
              <a:t>Potholes, broken benches, water purifiers, window latches.</a:t>
            </a:r>
          </a:p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▸ Security: </a:t>
            </a:r>
            <a:r>
              <a:rPr b="0">
                <a:solidFill>
                  <a:srgbClr val="0F172A"/>
                </a:solidFill>
              </a:rPr>
              <a:t>Unauthorized campus entry, parking blockage, perimeter lights.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Experimental Evaluation &amp; Quantitative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231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D9488"/>
                </a:solidFill>
              </a:defRPr>
            </a:pPr>
            <a:r>
              <a:t>94.89%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Macro F1-Score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231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73736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B82F6"/>
                </a:solidFill>
              </a:defRPr>
            </a:pPr>
            <a:r>
              <a:t>96.10%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Macro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231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3A8A"/>
                </a:solidFill>
              </a:defRPr>
            </a:pPr>
            <a:r>
              <a:t>95.24%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Macro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231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3736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</a:defRPr>
            </a:pPr>
            <a:r>
              <a:t>&lt; 5 ms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Inference Latency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1089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Department 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Hostel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IT &amp; Network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Electrical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Mess &amp; Canteen Sanitation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Academic &amp; Classroom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General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Campus Security &amp;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Heuristic Priority &amp; Emergency Hazard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A8A"/>
                </a:solidFill>
              </a:defRPr>
            </a:pPr>
            <a:r>
              <a:t>The Safety Guarantee Principle</a:t>
            </a:r>
          </a:p>
          <a:p>
            <a:pPr>
              <a:spcAft>
                <a:spcPts val="1600"/>
              </a:spcAft>
              <a:defRPr sz="1300">
                <a:solidFill>
                  <a:srgbClr val="0F172A"/>
                </a:solidFill>
              </a:defRPr>
            </a:pPr>
            <a:r>
              <a:t>Purely statistical models can fail on rare but life-threatening campus hazards due to training distribution imbalance.</a:t>
            </a:r>
            <a:br/>
            <a:br/>
            <a:r>
              <a:t>CampusCare couples the statistical ML classifier with a deterministic Priority Rule Engine that scans for critical physical and infrastructural triggers.</a:t>
            </a:r>
          </a:p>
          <a:p>
            <a:pPr>
              <a:defRPr sz="1400" b="1">
                <a:solidFill>
                  <a:srgbClr val="3B82F6"/>
                </a:solidFill>
              </a:defRPr>
            </a:pPr>
            <a:r>
              <a:t>Key Benefits: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Instant Critical elevation for fires, gas leaks, and electric sparks.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Generates explainable rationale displayed directly to students and staff.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Enables instant visual badges and priority filtering on staff queues.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10058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E11D48"/>
                </a:solidFill>
              </a:defRPr>
            </a:pPr>
            <a:r>
              <a:t>Critical Priority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Sparks, fire, smoke, gas leak, building collapse risk, severe injury hazard.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61488"/>
            <a:ext cx="52120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761488"/>
            <a:ext cx="109728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986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EA580C"/>
                </a:solidFill>
              </a:defRPr>
            </a:pPr>
            <a:r>
              <a:t>High Priority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Elevator stoppage, total hostel water cut, campus-wide Wi-Fi down during exams.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77056"/>
            <a:ext cx="52120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877056"/>
            <a:ext cx="10972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14216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B82F6"/>
                </a:solidFill>
              </a:defRPr>
            </a:pPr>
            <a:r>
              <a:t>Medium Priority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Single lab workstation issue, broken chair, dripping tap, slow internet.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992624"/>
            <a:ext cx="52120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992624"/>
            <a:ext cx="109728" cy="1005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5129784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64748B"/>
                </a:solidFill>
              </a:defRPr>
            </a:pPr>
            <a:r>
              <a:t>Low Priority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Aesthetic paint peel, suggestions, non-urgent minor fixture alignment.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Vector Similarity &amp; Duplicate Complaint Suppression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Stage 1: Context Filter</a:t>
            </a:r>
          </a:p>
          <a:p>
            <a:pPr>
              <a:spcAft>
                <a:spcPts val="1400"/>
              </a:spcAft>
              <a:defRPr sz="1200" i="1">
                <a:solidFill>
                  <a:srgbClr val="64748B"/>
                </a:solidFill>
              </a:defRPr>
            </a:pPr>
            <a:r>
              <a:t>Filters candidate tickets by status &amp; location.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Selects open complaints (Submitted, Assigned, In Progress).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Filters candidates within matching location tokens (e.g. 'Lab 3', 'Hostel B').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Eliminates unnecessary global comparisons to maximize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Stage 2: TF-IDF Embedding</a:t>
            </a:r>
          </a:p>
          <a:p>
            <a:pPr>
              <a:spcAft>
                <a:spcPts val="1400"/>
              </a:spcAft>
              <a:defRPr sz="1200" i="1">
                <a:solidFill>
                  <a:srgbClr val="64748B"/>
                </a:solidFill>
              </a:defRPr>
            </a:pPr>
            <a:r>
              <a:t>Transforms text into normalized vector space.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Converts candidate title &amp; description into sparse TF-IDF vectors.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Normalizes vectors using L2 norm to ensure invariant length scaling.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Preserves domain vocabulary weights for campus facilities.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Stage 3: Cosine Similarity</a:t>
            </a:r>
          </a:p>
          <a:p>
            <a:pPr>
              <a:spcAft>
                <a:spcPts val="1400"/>
              </a:spcAft>
              <a:defRPr sz="1200" i="1">
                <a:solidFill>
                  <a:srgbClr val="64748B"/>
                </a:solidFill>
              </a:defRPr>
            </a:pPr>
            <a:r>
              <a:t>Evaluates cosine angle against threshold.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Computes dot product: Similarity = (u · v) / (||u|| ||v||).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Threshold T &gt;= 0.65 triggers real-time pre-submission warning.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Allows staff to link duplicate children to a master parent ticket.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Security Architecture &amp; Role-Based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E3A8A"/>
                </a:solidFill>
              </a:defRPr>
            </a:pPr>
            <a:r>
              <a:t>Student Role</a:t>
            </a:r>
          </a:p>
          <a:p>
            <a:pPr>
              <a:spcAft>
                <a:spcPts val="1400"/>
              </a:spcAft>
              <a:defRPr sz="1200" i="1">
                <a:solidFill>
                  <a:srgbClr val="64748B"/>
                </a:solidFill>
              </a:defRPr>
            </a:pPr>
            <a:r>
              <a:t>Grievance Filing &amp; Feedback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Self-registration restricted strictly to student scope.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Can submit grievances, view own complaints, and add public comments.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Rate resolved tickets (1-5 stars) or reopen within 7 days.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Cryptographically restricted from viewing other students' tickets.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E3A8A"/>
                </a:solidFill>
              </a:defRPr>
            </a:pPr>
            <a:r>
              <a:t>Department Staff</a:t>
            </a:r>
          </a:p>
          <a:p>
            <a:pPr>
              <a:spcAft>
                <a:spcPts val="1400"/>
              </a:spcAft>
              <a:defRPr sz="1200" i="1">
                <a:solidFill>
                  <a:srgbClr val="64748B"/>
                </a:solidFill>
              </a:defRPr>
            </a:pPr>
            <a:r>
              <a:t>Queue Triage &amp; Resolution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Strict tenant isolation: view only complaints in assigned department.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Claim unassigned complaints and execute valid status transitions.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Post internal private notes hidden from students.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Mandatory resolution remarks before resolving any ticket.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2024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E3A8A"/>
                </a:solidFill>
              </a:defRPr>
            </a:pPr>
            <a:r>
              <a:t>Administrator</a:t>
            </a:r>
          </a:p>
          <a:p>
            <a:pPr>
              <a:spcAft>
                <a:spcPts val="1400"/>
              </a:spcAft>
              <a:defRPr sz="1200" i="1">
                <a:solidFill>
                  <a:srgbClr val="64748B"/>
                </a:solidFill>
              </a:defRPr>
            </a:pPr>
            <a:r>
              <a:t>Global Governance &amp; Analytics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System-wide visibility across all departments and complaint queues.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Dedicated ML Review Queue for confidence scores &lt; 60%.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Department CRUD and staff user provisioning.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Full CSV audit stream export for campus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Student Experience: Smart Grievance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Real-Time AI Suggestion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As the student types title &amp; description, category is predicted dynamically with live confidence gauge.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10972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Duplicate Warning Banner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Alerts student if an active ticket in the same location already covers this issue, preventing redundant filing.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7764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Visual Status Timeline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Step-by-step graphical progress tracker showing exact timestamped history from submission to resolution.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7764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977640"/>
            <a:ext cx="109728" cy="2011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60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Satisfaction Rating &amp; Reopen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Submit 1-5 star quality feedback, or reopen unresolved issues within 7 days with mandatory rationale.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Staff Operations: Queue Triage &amp; Resolution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Department Queue Isolation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Staff only see complaints assigned to their department. Zero data spillover across department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109728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1-Click Ticket Claiming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Staff members assign tickets to themselves with a single click, instantly moving status to Assigned.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77640"/>
            <a:ext cx="10972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Internal Private Notes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Private communication channel visible only to department technicians and admins for coordination.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7764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97764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60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</a:defRPr>
            </a:pPr>
            <a:r>
              <a:t>Mandatory Resolution Notes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System enforces entering technical resolution summary before permitting transition to Resolved.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Administrator Oversight &amp; Human-in-the-Loop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3A8A"/>
                </a:solidFill>
              </a:defRPr>
            </a:pPr>
            <a:r>
              <a:t>Human-in-the-Loop ML Review Queue</a:t>
            </a:r>
          </a:p>
          <a:p>
            <a:pPr>
              <a:spcAft>
                <a:spcPts val="800"/>
              </a:spcAft>
              <a:defRPr sz="1300" b="1">
                <a:solidFill>
                  <a:srgbClr val="3B82F6"/>
                </a:solidFill>
              </a:defRPr>
            </a:pPr>
            <a:r>
              <a:t>Why it matters in real-world engineering: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Vague, colloquial, or ambiguous complaint descriptions naturally yield lower model confidence.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Rather than forcing a low-confidence guess, the system flags tickets with AI confidence &lt; 60%.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Administrators access a dedicated Review Queue to manually inspect and reassign departments with 1 click.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Eliminates misrouting ping-pong between department staff.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3A8A"/>
                </a:solidFill>
              </a:defRPr>
            </a:pPr>
            <a:r>
              <a:t>Operational Analytics &amp; Governance</a:t>
            </a:r>
          </a:p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Key Administrative Capabilities: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Real-Time KPIs: Total volume, pending counts, resolution rate %, and mean resolution duration in hours.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Interactive Visualizations: Department workload bar charts, category distribution pie charts.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Department &amp; Staff Provisioning: Create new campus departments and configure staff accounts dynamically.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One-Click CSV Audit Stream: Filter complaints by status or date and download standardized CSV reports for university senate reviews.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CAMPUSCARE — CSE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Engineering Limitations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Current System Boundaries</a:t>
            </a:r>
          </a:p>
          <a:p>
            <a:pPr>
              <a:defRPr sz="1300" b="1">
                <a:solidFill>
                  <a:srgbClr val="D97706"/>
                </a:solidFill>
              </a:defRPr>
            </a:pPr>
            <a:r>
              <a:t>⚠ Text-Only Classification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Models evaluate textual complaints; uploaded photo attachments are stored but not yet parsed via computer vision.</a:t>
            </a:r>
          </a:p>
          <a:p>
            <a:pPr>
              <a:defRPr sz="1300" b="1">
                <a:solidFill>
                  <a:srgbClr val="D97706"/>
                </a:solidFill>
              </a:defRPr>
            </a:pPr>
            <a:r>
              <a:t>⚠ English Language Corpus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Trained primarily on English campus terminology; regional vernacular terms require corpus expansion.</a:t>
            </a:r>
          </a:p>
          <a:p>
            <a:pPr>
              <a:defRPr sz="1300" b="1">
                <a:solidFill>
                  <a:srgbClr val="D97706"/>
                </a:solidFill>
              </a:defRPr>
            </a:pPr>
            <a:r>
              <a:t>⚠ Periodic Model Updates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Model retraining is currently executed via batch pipeline scripts rather than real-time continuous streaming.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Future Research &amp; Engineering Roadmap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✦ Multimodal Vision Verification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Integrate CNN / Vision-Language models to inspect photos of water damage, broken switches, or cracks.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✦ Interactive Geospatial Heatmaps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Render campus floor plans showing live hotspots of recurring failures across blocks and wings.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✦ Automated WhatsApp Webhooks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Dispatch instant WhatsApp / SMS alerts to duty technicians when Critical tickets are flagged.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✦ Active Learning Loop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Retrain NLP models automatically as administrators verify or reclassify tickets over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93C5FD"/>
                </a:solidFill>
              </a:defRPr>
            </a:pPr>
            <a:r>
              <a:t>CONCLUSION &amp; SUMMARY</a:t>
            </a:r>
          </a:p>
          <a:p>
            <a:pPr>
              <a:spcAft>
                <a:spcPts val="2000"/>
              </a:spcAft>
              <a:defRPr sz="3000" b="1">
                <a:solidFill>
                  <a:srgbClr val="FFFFFF"/>
                </a:solidFill>
              </a:defRPr>
            </a:pPr>
            <a:r>
              <a:t>CampusCare delivers a production-ready, auditable campus grievance ecosystem.</a:t>
            </a:r>
          </a:p>
          <a:p>
            <a:pPr>
              <a:spcAft>
                <a:spcPts val="3000"/>
              </a:spcAft>
              <a:defRPr sz="1600">
                <a:solidFill>
                  <a:srgbClr val="E2E8F0"/>
                </a:solidFill>
              </a:defRPr>
            </a:pPr>
            <a:r>
              <a:t>Key Achievements:</a:t>
            </a:r>
            <a:br/>
            <a:r>
              <a:t>• High-performance ML categorization with 94.89% Macro F1-score and sub-5ms latency</a:t>
            </a:r>
            <a:br/>
            <a:r>
              <a:t>• Automated hazard priority triage and vector duplicate suppression</a:t>
            </a:r>
            <a:br/>
            <a:r>
              <a:t>• Strict auditable finite state machine with RBAC and private staff communication</a:t>
            </a:r>
            <a:br/>
            <a:r>
              <a:t>• Production-ready Docker containerization and zero-config local development</a:t>
            </a:r>
          </a:p>
          <a:p>
            <a:pPr>
              <a:defRPr sz="2200" b="1">
                <a:solidFill>
                  <a:srgbClr val="60A5FA"/>
                </a:solidFill>
              </a:defRPr>
            </a:pPr>
            <a:r>
              <a:t>Thank you!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